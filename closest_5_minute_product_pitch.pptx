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yclosest.onrender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yclosest.onrender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closest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0467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Healthcare, connected from
booking to clinical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B7D3C6"/>
                </a:solidFill>
                <a:latin typeface="Aptos"/>
              </a:rPr>
              <a:t>5-minute product &amp; technical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3977639" cy="329184"/>
          </a:xfrm>
          <a:prstGeom prst="roundRect">
            <a:avLst/>
          </a:prstGeom>
          <a:solidFill>
            <a:srgbClr val="27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731520" y="4087368"/>
            <a:ext cx="39776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LIVE PRODUCT  •  myclosest.onrender.com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B7D3C6"/>
                </a:solidFill>
                <a:latin typeface="Aptos"/>
              </a:rPr>
              <a:t>Node.js  •  Express.js  •  EJS  •  MongoDB Atlas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1722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B7D3C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Healthcare booking is more than a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The workflow breaks when booking, identity, queues and verification are treated as separate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15768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Booking conflicts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9718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A patient needs a reliable slot. The system must prevent two active bookings from occupying the same doctor, date and time slot.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4884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715768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Unclear patient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154680"/>
            <a:ext cx="29718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After booking, patients still need visibility into appointments, queue position and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14884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15768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Trust &amp;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154680"/>
            <a:ext cx="29718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Doctors need a verification workflow, while accounts and clinical data require controlled access.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02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One workflow, three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closest connects the patient experience with doctor operations and administrative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429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97180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Discover doctors → choose a slot → book → view appointment history → follow queue/token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429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24328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Doctor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63240"/>
            <a:ext cx="297180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Manage appointments and queue flow while maintaining a verified professional profile.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057400"/>
            <a:ext cx="342900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24328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Master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63240"/>
            <a:ext cx="297180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Review doctor eKYC, assign verification slots, complete verification and manage account operations.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03 · PRODUCT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From discovery to clinical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A continuous server-side workflow rather than a collection of disconnected screens.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2423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0675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F1D"/>
                </a:solidFill>
                <a:latin typeface="Aptos"/>
              </a:rPr>
              <a:t>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01568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863"/>
                </a:solidFill>
                <a:latin typeface="Aptos"/>
              </a:rPr>
              <a:t>Doctor directory &amp; profiles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240280"/>
            <a:ext cx="2423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468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0675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F1D"/>
                </a:solidFill>
                <a:latin typeface="Aptos"/>
              </a:rPr>
              <a:t>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401568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863"/>
                </a:solidFill>
                <a:latin typeface="Aptos"/>
              </a:rPr>
              <a:t>Authenticated appointment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240280"/>
            <a:ext cx="2423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468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06753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F1D"/>
                </a:solidFill>
                <a:latin typeface="Aptos"/>
              </a:rPr>
              <a:t>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401568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863"/>
                </a:solidFill>
                <a:latin typeface="Aptos"/>
              </a:rPr>
              <a:t>History, token &amp; 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2240280"/>
            <a:ext cx="24231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39" y="2468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06753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29260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81F1D"/>
                </a:solidFill>
                <a:latin typeface="Aptos"/>
              </a:rP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3401568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B6863"/>
                </a:solidFill>
                <a:latin typeface="Aptos"/>
              </a:rPr>
              <a:t>Doctor eKYC + admin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98348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06753"/>
                </a:solidFill>
                <a:latin typeface="Aptos"/>
              </a:rPr>
              <a:t>Patient  →  System  →  Doctor  → 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04 · ROUTES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A request moves through clear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MVC/service structure separates HTTP concerns, business rules and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840480" cy="3383280"/>
          </a:xfrm>
          <a:prstGeom prst="roundRect">
            <a:avLst/>
          </a:prstGeom>
          <a:solidFill>
            <a:srgbClr val="11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3055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0C2AF"/>
                </a:solidFill>
                <a:latin typeface="Aptos"/>
              </a:rPr>
              <a:t>REQUEST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33832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 Mono"/>
              </a:rPr>
              <a:t>Browser
   ↓
Route
   ↓
Middleware
   ↓
Controller
   ↓
Service
   ↓
Mongoose → MongoDB Atlas
   ↓
Controller → EJS
   ↓
Browser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965960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194560"/>
            <a:ext cx="2514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633472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Define endpoints and connect requests to application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965960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514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33472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Extract request data, call services and choose the response.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3520440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3749039"/>
            <a:ext cx="2514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187952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Hold core business rules such as booking availability.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3520440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749039"/>
            <a:ext cx="2514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187952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Mongoose schemas and indexes represent persisted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05 · DATA &amp;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Persistent data with secure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MongoDB Atlas stores application state; Express sessions and bcryptjs protect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7432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Core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Users
Doctors
Appointments
Reviews
Admin / eKYC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057400"/>
            <a:ext cx="274320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624328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Password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063240"/>
            <a:ext cx="2286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Passwords are salted and hashed with bcryptjs in a Mongoose pre-save hook. Login compares the supplied password with the stored hash.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057400"/>
            <a:ext cx="22402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624328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Sessions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063240"/>
            <a:ext cx="1783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express-session
+
connect-mongo
HTTP-only cookies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057400"/>
            <a:ext cx="224028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624328"/>
            <a:ext cx="1783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063240"/>
            <a:ext cx="17830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requireAuth()
guest()
requireAdmin()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06 · CORE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Appointment booking that prevents collisions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The important logic runs on the server — not only in the browser.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383280" cy="1417320"/>
          </a:xfrm>
          <a:prstGeom prst="roundRect">
            <a:avLst/>
          </a:prstGeom>
          <a:solidFill>
            <a:srgbClr val="11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7627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0C2AF"/>
                </a:solidFill>
                <a:latin typeface="Aptos"/>
              </a:rP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926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 Mono"/>
              </a:rPr>
              <a:t>router.post('/book',
  requireAuth,
  appointmentController.bookAppointment
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2926080" cy="1417320"/>
          </a:xfrm>
          <a:prstGeom prst="roundRect">
            <a:avLst/>
          </a:prstGeom>
          <a:solidFill>
            <a:srgbClr val="11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7627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0C2AF"/>
                </a:solidFill>
                <a:latin typeface="Aptos"/>
              </a:rPr>
              <a:t>SERVICE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 Mono"/>
              </a:rPr>
              <a:t>isSlotBooked(
  doctorId,
  date,
  timeSlot
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011680"/>
            <a:ext cx="3474720" cy="1417320"/>
          </a:xfrm>
          <a:prstGeom prst="roundRect">
            <a:avLst/>
          </a:prstGeom>
          <a:solidFill>
            <a:srgbClr val="11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7627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0C2AF"/>
                </a:solidFill>
                <a:latin typeface="Aptos"/>
              </a:rPr>
              <a:t>MONGODB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514600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 Mono"/>
              </a:rPr>
              <a:t>{ doctor: 1,
  date: 1,
  timeSlot: 1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4048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2926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If available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0799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Create appointment → flash success → redirect to patient appointments.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840480"/>
            <a:ext cx="2926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069080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If occupied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507992"/>
            <a:ext cx="2468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Return HTTP 409 Conflict instead of silently creating a duplicate.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840480"/>
            <a:ext cx="34747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069080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507992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findNextAvailableSlot() searches forward across the next 7 days.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07 · LIVE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Queue &amp; token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The patient history view turns appointment data into an understandable queue 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011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81F1D"/>
                </a:solidFill>
                <a:latin typeface="Aptos"/>
              </a:rPr>
              <a:t>#04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863"/>
                </a:solidFill>
                <a:latin typeface="Aptos"/>
              </a:rPr>
              <a:t>Current queue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0574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624328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Chronological sorting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063240"/>
            <a:ext cx="29718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Appointment time slots are sorted to derive queue order from persisted booking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057400"/>
            <a:ext cx="34290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624328"/>
            <a:ext cx="2971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No WebSockets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063240"/>
            <a:ext cx="29718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The queue is calculated server-side from current appointment data and rendered back into the patient 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8348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06753"/>
                </a:solidFill>
                <a:latin typeface="Aptos"/>
              </a:rPr>
              <a:t>Booking data  →  sort by time slot  →  queue/token  →  patient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08 · 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Doctor eKYC is a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Verification is represented explicitly in the Doctor model and managed by the admin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31720"/>
            <a:ext cx="2331720" cy="1234440"/>
          </a:xfrm>
          <a:prstGeom prst="roundRect">
            <a:avLst/>
          </a:prstGeom>
          <a:solidFill>
            <a:srgbClr val="E2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8775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06753"/>
                </a:solidFill>
                <a:latin typeface="Aptos"/>
              </a:rPr>
              <a:t>not_applied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535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B6863"/>
                </a:solidFill>
                <a:latin typeface="Aptos"/>
              </a:rPr>
              <a:t>Initial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2491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B686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331720"/>
            <a:ext cx="2331720" cy="1234440"/>
          </a:xfrm>
          <a:prstGeom prst="roundRect">
            <a:avLst/>
          </a:prstGeom>
          <a:solidFill>
            <a:srgbClr val="E2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58775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06753"/>
                </a:solidFill>
                <a:latin typeface="Aptos"/>
              </a:rPr>
              <a:t>applied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29535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B6863"/>
                </a:solidFill>
                <a:latin typeface="Aptos"/>
              </a:rPr>
              <a:t>Documents submitted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79" y="272491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B6863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331720"/>
            <a:ext cx="2331720" cy="1234440"/>
          </a:xfrm>
          <a:prstGeom prst="roundRect">
            <a:avLst/>
          </a:prstGeom>
          <a:solidFill>
            <a:srgbClr val="E2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8775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06753"/>
                </a:solidFill>
                <a:latin typeface="Aptos"/>
              </a:rPr>
              <a:t>slot_assigned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535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B6863"/>
                </a:solidFill>
                <a:latin typeface="Aptos"/>
              </a:rPr>
              <a:t>Verification scheduled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24912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B6863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2331720"/>
            <a:ext cx="2331720" cy="1234440"/>
          </a:xfrm>
          <a:prstGeom prst="roundRect">
            <a:avLst/>
          </a:prstGeom>
          <a:solidFill>
            <a:srgbClr val="E2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58775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06753"/>
                </a:solidFill>
                <a:latin typeface="Aptos"/>
              </a:rPr>
              <a:t>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953512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B6863"/>
                </a:solidFill>
                <a:latin typeface="Aptos"/>
              </a:rPr>
              <a:t>Completed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800" y="406908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4297680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Doctor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73659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Submits license + government ID details through the eKYC flow.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069080"/>
            <a:ext cx="38404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297680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Master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736592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Reviews, assigns a verification slot and completes the verification state.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09 · SERVER-RENDERED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EJS keeps the UI close to the server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Pages are rendered from controller data, with lightweight browser-side JavaScript for interaction.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108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24328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EJS views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6517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Layouts and page templates receive server-side data through res.render().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057400"/>
            <a:ext cx="3108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24328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Vanilla JavaScript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63240"/>
            <a:ext cx="26517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Client-side validation and interaction enhance the server-rendered experience.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2057400"/>
            <a:ext cx="3108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224028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624328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Search &amp; pagination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063240"/>
            <a:ext cx="26517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queryBuilder.js handles search/category/sort rules; pagination.js calculates page metadata.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983480"/>
            <a:ext cx="4937760" cy="329184"/>
          </a:xfrm>
          <a:prstGeom prst="roundRect">
            <a:avLst/>
          </a:prstGeom>
          <a:solidFill>
            <a:srgbClr val="E2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5001768"/>
            <a:ext cx="4937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06753"/>
                </a:solidFill>
                <a:latin typeface="Aptos"/>
              </a:rPr>
              <a:t>DEBOUNCING  •  reduces unnecessary requests while users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10 · CODE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The implementation has practical safeguards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A few pieces of code demonstrate the engineering decisions behind the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349240" cy="1874519"/>
          </a:xfrm>
          <a:prstGeom prst="roundRect">
            <a:avLst/>
          </a:prstGeom>
          <a:solidFill>
            <a:srgbClr val="11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4892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0C2AF"/>
                </a:solidFill>
                <a:latin typeface="Aptos"/>
              </a:rPr>
              <a:t>BCRYPT 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89204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 Mono"/>
              </a:rPr>
              <a:t>userSchema.pre('save', async function(next) {
  if (!this.isModified('password')) return next();
  this.password = await bcrypt.hash(this.password, 10);
  next();
});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257800" cy="1874519"/>
          </a:xfrm>
          <a:prstGeom prst="roundRect">
            <a:avLst/>
          </a:prstGeom>
          <a:solidFill>
            <a:srgbClr val="11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30552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0C2AF"/>
                </a:solidFill>
                <a:latin typeface="Aptos"/>
              </a:rPr>
              <a:t>COLLISION-SAFE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4800600" cy="1234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 Mono"/>
              </a:rPr>
              <a:t>appointmentSchema.index({
  doctor: 1,
  date: 1,
  timeSlot: 1
});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51960"/>
            <a:ext cx="10789920" cy="1417320"/>
          </a:xfrm>
          <a:prstGeom prst="roundRect">
            <a:avLst/>
          </a:prstGeom>
          <a:solidFill>
            <a:srgbClr val="11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16552"/>
            <a:ext cx="10332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0C2AF"/>
                </a:solidFill>
                <a:latin typeface="Aptos"/>
              </a:rPr>
              <a:t>SERVER-SIDE BOOKING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 Mono"/>
              </a:rPr>
              <a:t>if (await isSlotBooked(...)) {
  const suggested = await findNextAvailableSlot(...);
  return res.status(409).render(...);
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06753"/>
                </a:solidFill>
                <a:latin typeface="Aptos"/>
              </a:rPr>
              <a:t>11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7724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81F1D"/>
                </a:solidFill>
                <a:latin typeface="Aptos"/>
              </a:rPr>
              <a:t>Live on Render, persisted in MongoDB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B6863"/>
                </a:solidFill>
                <a:latin typeface="Aptos"/>
              </a:rPr>
              <a:t>The same architecture shown in the code is running as the deployed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926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15768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Frontend /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Render hosts the Node.js + Express application and serves EJS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148840"/>
            <a:ext cx="2926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15768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154680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MongoDB Atlas provides cloud persistence for users, doctors, bookings, reviews and workflow state.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148840"/>
            <a:ext cx="2926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06753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715768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81F1D"/>
                </a:solidFill>
                <a:latin typeface="Aptos"/>
              </a:rPr>
              <a:t>Configuration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154680"/>
            <a:ext cx="2468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B6863"/>
                </a:solidFill>
                <a:latin typeface="Aptos"/>
              </a:rPr>
              <a:t>Environment validation checks MONGODB_URI, SESSION_SECRET and PORT.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4892040"/>
            <a:ext cx="4572000" cy="329184"/>
          </a:xfrm>
          <a:prstGeom prst="roundRect">
            <a:avLst/>
          </a:prstGeom>
          <a:solidFill>
            <a:srgbClr val="E2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r:id="rId2"/>
          </p:cNvPr>
          <p:cNvSpPr txBox="1"/>
          <p:nvPr/>
        </p:nvSpPr>
        <p:spPr>
          <a:xfrm>
            <a:off x="3794760" y="4910327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06753"/>
                </a:solidFill>
                <a:latin typeface="Aptos"/>
              </a:rPr>
              <a:t>myclosest.onrender.com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closest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046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Not just appointment booking.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8961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C6DCD3"/>
                </a:solidFill>
                <a:latin typeface="Aptos"/>
              </a:rPr>
              <a:t>A complete server-side healthcare workflow connecting
patients, doctors and administrators.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2834640" cy="329184"/>
          </a:xfrm>
          <a:prstGeom prst="roundRect">
            <a:avLst/>
          </a:prstGeom>
          <a:solidFill>
            <a:srgbClr val="27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04487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EF0E8"/>
                </a:solidFill>
                <a:latin typeface="Aptos"/>
              </a:rPr>
              <a:t>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3886200"/>
            <a:ext cx="2834640" cy="329184"/>
          </a:xfrm>
          <a:prstGeom prst="roundRect">
            <a:avLst/>
          </a:prstGeom>
          <a:solidFill>
            <a:srgbClr val="27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3904487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EF0E8"/>
                </a:solidFill>
                <a:latin typeface="Aptos"/>
              </a:rPr>
              <a:t>Collision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886200"/>
            <a:ext cx="2834640" cy="329184"/>
          </a:xfrm>
          <a:prstGeom prst="roundRect">
            <a:avLst/>
          </a:prstGeom>
          <a:solidFill>
            <a:srgbClr val="27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3904487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EF0E8"/>
                </a:solidFill>
                <a:latin typeface="Aptos"/>
              </a:rPr>
              <a:t>Queue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44568"/>
            <a:ext cx="2834640" cy="329184"/>
          </a:xfrm>
          <a:prstGeom prst="roundRect">
            <a:avLst/>
          </a:prstGeom>
          <a:solidFill>
            <a:srgbClr val="27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62855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EF0E8"/>
                </a:solidFill>
                <a:latin typeface="Aptos"/>
              </a:rPr>
              <a:t>Doctor eKYC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544568"/>
            <a:ext cx="2834640" cy="329184"/>
          </a:xfrm>
          <a:prstGeom prst="roundRect">
            <a:avLst/>
          </a:prstGeom>
          <a:solidFill>
            <a:srgbClr val="27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4562855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EF0E8"/>
                </a:solidFill>
                <a:latin typeface="Aptos"/>
              </a:rPr>
              <a:t>Database persistence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544568"/>
            <a:ext cx="2834640" cy="329184"/>
          </a:xfrm>
          <a:prstGeom prst="roundRect">
            <a:avLst/>
          </a:prstGeom>
          <a:solidFill>
            <a:srgbClr val="274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4562855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EF0E8"/>
                </a:solidFill>
                <a:latin typeface="Aptos"/>
              </a:rPr>
              <a:t>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7D3C6"/>
                </a:solidFill>
                <a:latin typeface="Aptos"/>
              </a:rPr>
              <a:t>Live product  ·  myclosest.onrender.com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56692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ptos"/>
              </a:rPr>
              <a:t>Thank you.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B6863"/>
                </a:solidFill>
                <a:latin typeface="Aptos"/>
              </a:rPr>
              <a:t>closest  ·  Healthcare appointment &amp; clinical workflow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B6863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